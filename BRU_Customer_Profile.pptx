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A1D2E"/>
          </a:solidFill>
          <a:ln w="635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FAFB"/>
                </a:solidFill>
                <a:latin typeface="Calibri"/>
              </a:rPr>
              <a:t>BRU TEXTILES NV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3317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C9EFF"/>
                </a:solidFill>
                <a:latin typeface="Calibri"/>
              </a:rPr>
              <a:t>Customer Intelligence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88036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3-Year Customer Profile  ·  2023 – 2025
Export Customer  ·  Customer #20000920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280160"/>
            <a:ext cx="3108960" cy="713232"/>
          </a:xfrm>
          <a:prstGeom prst="rect">
            <a:avLst/>
          </a:prstGeom>
          <a:solidFill>
            <a:srgbClr val="1E2130"/>
          </a:solidFill>
          <a:ln w="635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66360" y="13258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Total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155448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C9EFF"/>
                </a:solidFill>
                <a:latin typeface="Calibri"/>
              </a:rPr>
              <a:t>$1.0M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2167128"/>
            <a:ext cx="3108960" cy="713232"/>
          </a:xfrm>
          <a:prstGeom prst="rect">
            <a:avLst/>
          </a:prstGeom>
          <a:solidFill>
            <a:srgbClr val="1E2130"/>
          </a:solidFill>
          <a:ln w="635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221284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Total Qty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4414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D399"/>
                </a:solidFill>
                <a:latin typeface="Calibri"/>
              </a:rPr>
              <a:t>142K 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3054096"/>
            <a:ext cx="3108960" cy="713232"/>
          </a:xfrm>
          <a:prstGeom prst="rect">
            <a:avLst/>
          </a:prstGeom>
          <a:solidFill>
            <a:srgbClr val="1E2130"/>
          </a:solidFill>
          <a:ln w="635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3099815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Repeat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328415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  <a:latin typeface="Calibri"/>
              </a:rPr>
              <a:t>62%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3941064"/>
            <a:ext cx="3108960" cy="713232"/>
          </a:xfrm>
          <a:prstGeom prst="rect">
            <a:avLst/>
          </a:prstGeom>
          <a:solidFill>
            <a:srgbClr val="1E2130"/>
          </a:solidFill>
          <a:ln w="635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398678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Avg Price /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421538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A78BFA"/>
                </a:solidFill>
                <a:latin typeface="Calibri"/>
              </a:rPr>
              <a:t>$7.37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4828031"/>
            <a:ext cx="3108960" cy="713232"/>
          </a:xfrm>
          <a:prstGeom prst="rect">
            <a:avLst/>
          </a:prstGeom>
          <a:solidFill>
            <a:srgbClr val="1E2130"/>
          </a:solidFill>
          <a:ln w="635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4873751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Top Collection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5102351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7171"/>
                </a:solidFill>
                <a:latin typeface="Calibri"/>
              </a:rPr>
              <a:t>PANDORA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A7A"/>
                </a:solidFill>
                <a:latin typeface="Calibri"/>
              </a:rPr>
              <a:t>D'Decor Home Fabrics  ·  Data &amp;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9FAFB"/>
                </a:solidFill>
                <a:latin typeface="Calibri"/>
              </a:rPr>
              <a:t>Purchase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Monthly order value (USD) · 2023 vs 2024 vs 2025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8872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9FAFB"/>
                </a:solidFill>
                <a:latin typeface="Calibri"/>
              </a:rPr>
              <a:t>Buying Frequency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Orders placed per month across all years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8872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9FAFB"/>
                </a:solidFill>
                <a:latin typeface="Calibri"/>
              </a:rPr>
              <a:t>Price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Average Nett price per metre (USD) — top collections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8872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9FAFB"/>
                </a:solidFill>
                <a:latin typeface="Calibri"/>
              </a:rPr>
              <a:t>Product Usage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Top HF qualities and collection loyalty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TOP HF QUALITY — QTY ORDERED (m)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9601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REPEAT vs NEW — TOP COLLECTIONS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34440"/>
            <a:ext cx="6035040" cy="53949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34440"/>
            <a:ext cx="58521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9FAFB"/>
                </a:solidFill>
                <a:latin typeface="Calibri"/>
              </a:rPr>
              <a:t>Special Finish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Finish preferences and year-on-year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FINISH MIX — SHARE OF TOTAL QTY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9601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Calibri"/>
              </a:rPr>
              <a:t>FINISH TREND — QTY PER YEAR (m)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34440"/>
            <a:ext cx="6035040" cy="53949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34440"/>
            <a:ext cx="58521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9FAFB"/>
                </a:solidFill>
                <a:latin typeface="Calibri"/>
              </a:rP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What the data tells us about BRU Textiles NV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3794760" cy="2423160"/>
          </a:xfrm>
          <a:prstGeom prst="rect">
            <a:avLst/>
          </a:prstGeom>
          <a:solidFill>
            <a:srgbClr val="1E2130"/>
          </a:solidFill>
          <a:ln w="635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1615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9EFF"/>
                </a:solidFill>
                <a:latin typeface="Calibri"/>
              </a:rPr>
              <a:t>📈 Purchase Trend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81912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9FAFB"/>
                </a:solidFill>
                <a:latin typeface="Calibri"/>
              </a:rPr>
              <a:t>Total value $1.0M across 3 years. Peak spend in Q1 and Q3 — aligning with BRU's spring and festive buying cycles.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79" y="1051560"/>
            <a:ext cx="3794760" cy="2423160"/>
          </a:xfrm>
          <a:prstGeom prst="rect">
            <a:avLst/>
          </a:prstGeom>
          <a:solidFill>
            <a:srgbClr val="1E2130"/>
          </a:solidFill>
          <a:ln w="635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21615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D399"/>
                </a:solidFill>
                <a:latin typeface="Calibri"/>
              </a:rPr>
              <a:t>🔁 High Loyalty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1581912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9FAFB"/>
                </a:solidFill>
                <a:latin typeface="Calibri"/>
              </a:rPr>
              <a:t>62% of all orders are repeat orders. PANDORA, CASUAL and RESET are BRU's most loyal collections.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19" y="1051560"/>
            <a:ext cx="3794760" cy="2423160"/>
          </a:xfrm>
          <a:prstGeom prst="rect">
            <a:avLst/>
          </a:prstGeom>
          <a:solidFill>
            <a:srgbClr val="1E2130"/>
          </a:solidFill>
          <a:ln w="635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199" y="121615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✨ Finish Preference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199" y="1581912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9FAFB"/>
                </a:solidFill>
                <a:latin typeface="Calibri"/>
              </a:rPr>
              <a:t>Easy Clean Finish dominates at 46% of volume. BRU's end market likely requires performance fabric — hospitality or contract.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703320"/>
            <a:ext cx="3794760" cy="2423160"/>
          </a:xfrm>
          <a:prstGeom prst="rect">
            <a:avLst/>
          </a:prstGeom>
          <a:solidFill>
            <a:srgbClr val="1E2130"/>
          </a:solidFill>
          <a:ln w="635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86791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💰 Premium Buyer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33672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9FAFB"/>
                </a:solidFill>
                <a:latin typeface="Calibri"/>
              </a:rPr>
              <a:t>Average price $7.37/m. BRU consistently chooses mid-to-premium collections and pays above-average prices.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3703320"/>
            <a:ext cx="3794760" cy="2423160"/>
          </a:xfrm>
          <a:prstGeom prst="rect">
            <a:avLst/>
          </a:prstGeom>
          <a:solidFill>
            <a:srgbClr val="1E2130"/>
          </a:solidFill>
          <a:ln w="635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386791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Calibri"/>
              </a:rPr>
              <a:t>📦 Product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4233672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9FAFB"/>
                </a:solidFill>
                <a:latin typeface="Calibri"/>
              </a:rPr>
              <a:t>Upholstery (UPH-PDY and UPH-YDY) accounts for majority of volume. BRU is primarily an upholstery buyer.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9" y="3703320"/>
            <a:ext cx="3794760" cy="2423160"/>
          </a:xfrm>
          <a:prstGeom prst="rect">
            <a:avLst/>
          </a:prstGeom>
          <a:solidFill>
            <a:srgbClr val="1E2130"/>
          </a:solidFill>
          <a:ln w="6350">
            <a:solidFill>
              <a:srgbClr val="2D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199" y="386791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🗓 Seasonal 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199" y="4233672"/>
            <a:ext cx="3474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9FAFB"/>
                </a:solidFill>
                <a:latin typeface="Calibri"/>
              </a:rPr>
              <a:t>Q1 (Jan-Mar) is the most active buying quarter consistently. Best follow-up window: December to January.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